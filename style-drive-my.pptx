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49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F087-B429-40AC-933E-73B5B213A424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062-EF42-4902-873C-69645757C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332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F087-B429-40AC-933E-73B5B213A424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062-EF42-4902-873C-69645757C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01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F087-B429-40AC-933E-73B5B213A424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062-EF42-4902-873C-69645757C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01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F087-B429-40AC-933E-73B5B213A424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062-EF42-4902-873C-69645757C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1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F087-B429-40AC-933E-73B5B213A424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062-EF42-4902-873C-69645757C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07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F087-B429-40AC-933E-73B5B213A424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062-EF42-4902-873C-69645757C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227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F087-B429-40AC-933E-73B5B213A424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062-EF42-4902-873C-69645757C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179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F087-B429-40AC-933E-73B5B213A424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062-EF42-4902-873C-69645757C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22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F087-B429-40AC-933E-73B5B213A424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062-EF42-4902-873C-69645757C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19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F087-B429-40AC-933E-73B5B213A424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062-EF42-4902-873C-69645757C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633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F087-B429-40AC-933E-73B5B213A424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062-EF42-4902-873C-69645757C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025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1F087-B429-40AC-933E-73B5B213A424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14062-EF42-4902-873C-69645757C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933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0632" y="272716"/>
            <a:ext cx="762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/>
              <a:t>StyleDrive</a:t>
            </a:r>
            <a:r>
              <a:rPr lang="en-US" altLang="zh-CN" sz="2400" b="1" dirty="0"/>
              <a:t>: Towards Driving-Style Aware </a:t>
            </a:r>
            <a:endParaRPr lang="en-US" altLang="zh-CN" sz="2400" dirty="0" smtClean="0"/>
          </a:p>
          <a:p>
            <a:r>
              <a:rPr lang="en-US" altLang="zh-CN" sz="2400" b="1" dirty="0"/>
              <a:t>Benchmarking of End-To-End Autonomous </a:t>
            </a:r>
            <a:r>
              <a:rPr lang="en-US" altLang="zh-CN" sz="2400" b="1" dirty="0" smtClean="0"/>
              <a:t>Driving AAAI 2026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40632" y="1716504"/>
            <a:ext cx="1143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/>
              <a:t>Motivation:</a:t>
            </a:r>
          </a:p>
          <a:p>
            <a:r>
              <a:rPr lang="en-US" altLang="zh-CN" sz="3200" dirty="0" smtClean="0"/>
              <a:t>1</a:t>
            </a:r>
            <a:r>
              <a:rPr lang="zh-CN" altLang="en-US" sz="3200" dirty="0" smtClean="0"/>
              <a:t>、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车辆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行为与用户偏好对齐对于提升舒适性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、安全性至关重要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3200" dirty="0" smtClean="0">
                <a:solidFill>
                  <a:prstClr val="black"/>
                </a:solidFill>
              </a:rPr>
              <a:t>2</a:t>
            </a:r>
            <a:r>
              <a:rPr lang="zh-CN" altLang="en-US" sz="3200" dirty="0" smtClean="0">
                <a:solidFill>
                  <a:prstClr val="black"/>
                </a:solidFill>
              </a:rPr>
              <a:t>、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将个性化整合到端到端存在挑战，需要精心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设计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标注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驾驶风格的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数据集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40632" y="3529623"/>
            <a:ext cx="11430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Contribution</a:t>
            </a:r>
            <a:r>
              <a:rPr lang="en-US" altLang="zh-CN" sz="3200" dirty="0" smtClean="0"/>
              <a:t>:</a:t>
            </a:r>
          </a:p>
          <a:p>
            <a:r>
              <a:rPr lang="en-US" altLang="zh-CN" sz="3200" dirty="0" smtClean="0"/>
              <a:t>1</a:t>
            </a:r>
            <a:r>
              <a:rPr lang="zh-CN" altLang="en-US" sz="3200" dirty="0" smtClean="0"/>
              <a:t>、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开源了一个真实世界数据集，涵盖了各种交通场景下的客观行为和主管驾驶风格偏好标注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3200" dirty="0" smtClean="0">
                <a:solidFill>
                  <a:prstClr val="black"/>
                </a:solidFill>
              </a:rPr>
              <a:t>2</a:t>
            </a:r>
            <a:r>
              <a:rPr lang="zh-CN" altLang="en-US" sz="3200" dirty="0" smtClean="0">
                <a:solidFill>
                  <a:prstClr val="black"/>
                </a:solidFill>
              </a:rPr>
              <a:t>、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设计了一个自动化标注流程，整合了基于规则的启发式方法、视觉语言模型推理、生产高质量的驾驶风格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标签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3200" dirty="0">
                <a:solidFill>
                  <a:prstClr val="black"/>
                </a:solidFill>
              </a:rPr>
              <a:t>3</a:t>
            </a:r>
            <a:r>
              <a:rPr lang="zh-CN" altLang="en-US" sz="3200" dirty="0" smtClean="0">
                <a:solidFill>
                  <a:prstClr val="black"/>
                </a:solidFill>
              </a:rPr>
              <a:t>、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实现了对四种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不同模型在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偏好条件下的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行为进行对比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076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74"/>
          </a:xfrm>
        </p:spPr>
        <p:txBody>
          <a:bodyPr>
            <a:normAutofit/>
          </a:bodyPr>
          <a:lstStyle/>
          <a:p>
            <a:r>
              <a:rPr lang="zh-CN" altLang="en-US" sz="3200" dirty="0" smtClean="0"/>
              <a:t> 驾驶偏好建模与标注框架</a:t>
            </a:r>
            <a:endParaRPr lang="zh-CN" altLang="en-US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094" y="697107"/>
            <a:ext cx="6619031" cy="313820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99347" y="3953659"/>
            <a:ext cx="628379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dirty="0" smtClean="0"/>
              <a:t>3</a:t>
            </a:r>
            <a:r>
              <a:rPr lang="zh-CN" altLang="en-US" sz="1600" dirty="0" smtClean="0"/>
              <a:t>、</a:t>
            </a:r>
            <a:r>
              <a:rPr lang="zh-CN" altLang="en-US" sz="1600" b="1" dirty="0"/>
              <a:t>基于</a:t>
            </a:r>
            <a:r>
              <a:rPr lang="zh-CN" altLang="en-US" sz="1600" b="1" dirty="0" smtClean="0"/>
              <a:t>规则的</a:t>
            </a:r>
            <a:r>
              <a:rPr lang="zh-CN" altLang="en-US" sz="1600" b="1" dirty="0"/>
              <a:t>客观偏好</a:t>
            </a:r>
            <a:r>
              <a:rPr lang="zh-CN" altLang="en-US" sz="1600" b="1" dirty="0" smtClean="0"/>
              <a:t>标注</a:t>
            </a:r>
            <a:r>
              <a:rPr lang="zh-CN" altLang="en-US" sz="1600" dirty="0" smtClean="0"/>
              <a:t>：</a:t>
            </a:r>
            <a:endParaRPr lang="en-US" altLang="zh-CN" sz="1600" dirty="0" smtClean="0"/>
          </a:p>
          <a:p>
            <a:pPr>
              <a:lnSpc>
                <a:spcPts val="2200"/>
              </a:lnSpc>
            </a:pPr>
            <a:r>
              <a:rPr lang="en-US" altLang="zh-CN" sz="1600" dirty="0"/>
              <a:t>• </a:t>
            </a:r>
            <a:r>
              <a:rPr lang="zh-CN" altLang="en-US" sz="1600" dirty="0"/>
              <a:t>低速行驶和在交叉路口留有较大的安全余量，</a:t>
            </a:r>
            <a:r>
              <a:rPr lang="zh-CN" altLang="en-US" sz="1600" dirty="0" smtClean="0"/>
              <a:t>反映保守的</a:t>
            </a:r>
            <a:r>
              <a:rPr lang="zh-CN" altLang="en-US" sz="1600" dirty="0"/>
              <a:t>驾驶倾向； </a:t>
            </a:r>
            <a:endParaRPr lang="zh-CN" altLang="en-US" sz="1600" dirty="0" smtClean="0"/>
          </a:p>
          <a:p>
            <a:pPr>
              <a:lnSpc>
                <a:spcPts val="2200"/>
              </a:lnSpc>
            </a:pPr>
            <a:r>
              <a:rPr lang="en-US" altLang="zh-CN" sz="1600" dirty="0"/>
              <a:t>• </a:t>
            </a:r>
            <a:r>
              <a:rPr lang="zh-CN" altLang="en-US" sz="1600" dirty="0"/>
              <a:t>突然变道</a:t>
            </a:r>
            <a:r>
              <a:rPr lang="zh-CN" altLang="en-US" sz="1600" dirty="0" smtClean="0"/>
              <a:t>且跟</a:t>
            </a:r>
            <a:r>
              <a:rPr lang="zh-CN" altLang="en-US" sz="1600" dirty="0"/>
              <a:t>车距离过小，表明具有攻击性行为； </a:t>
            </a:r>
            <a:endParaRPr lang="zh-CN" altLang="en-US" sz="1600" dirty="0" smtClean="0"/>
          </a:p>
          <a:p>
            <a:pPr>
              <a:lnSpc>
                <a:spcPts val="2200"/>
              </a:lnSpc>
            </a:pPr>
            <a:r>
              <a:rPr lang="en-US" altLang="zh-CN" sz="1600" dirty="0"/>
              <a:t>• </a:t>
            </a:r>
            <a:r>
              <a:rPr lang="zh-CN" altLang="en-US" sz="1600" dirty="0" smtClean="0"/>
              <a:t>跟车与保持</a:t>
            </a:r>
            <a:r>
              <a:rPr lang="zh-CN" altLang="en-US" sz="1600" dirty="0"/>
              <a:t>车道</a:t>
            </a:r>
            <a:r>
              <a:rPr lang="zh-CN" altLang="en-US" sz="1600" dirty="0" smtClean="0"/>
              <a:t>属于</a:t>
            </a:r>
            <a:r>
              <a:rPr lang="zh-CN" altLang="en-US" sz="1600" dirty="0"/>
              <a:t>正常类别。</a:t>
            </a:r>
            <a:endParaRPr lang="en-US" altLang="zh-CN" sz="1600" dirty="0"/>
          </a:p>
          <a:p>
            <a:pPr>
              <a:lnSpc>
                <a:spcPts val="2200"/>
              </a:lnSpc>
            </a:pPr>
            <a:r>
              <a:rPr lang="en-US" altLang="zh-CN" sz="1600" dirty="0"/>
              <a:t>4</a:t>
            </a:r>
            <a:r>
              <a:rPr lang="zh-CN" altLang="en-US" sz="1600" dirty="0"/>
              <a:t>、</a:t>
            </a:r>
            <a:r>
              <a:rPr lang="zh-CN" altLang="en-US" sz="1600" b="1" dirty="0"/>
              <a:t>基于视觉语言模型推理的主观偏好</a:t>
            </a:r>
            <a:r>
              <a:rPr lang="zh-CN" altLang="en-US" sz="1600" b="1" dirty="0" smtClean="0"/>
              <a:t>标注</a:t>
            </a:r>
            <a:r>
              <a:rPr lang="zh-CN" altLang="en-US" sz="1600" dirty="0" smtClean="0"/>
              <a:t>：</a:t>
            </a:r>
            <a:endParaRPr lang="en-US" altLang="zh-CN" sz="1600" dirty="0" smtClean="0"/>
          </a:p>
          <a:p>
            <a:pPr>
              <a:lnSpc>
                <a:spcPts val="2200"/>
              </a:lnSpc>
            </a:pPr>
            <a:r>
              <a:rPr lang="en-US" altLang="zh-CN" sz="1600" dirty="0" smtClean="0"/>
              <a:t>• </a:t>
            </a:r>
            <a:r>
              <a:rPr lang="zh-CN" altLang="en-US" sz="1600" dirty="0" smtClean="0"/>
              <a:t>基于</a:t>
            </a:r>
            <a:r>
              <a:rPr lang="en-US" altLang="zh-CN" sz="1600" dirty="0" smtClean="0"/>
              <a:t>video-llama3</a:t>
            </a:r>
            <a:endParaRPr lang="en-US" altLang="zh-CN" sz="1600" dirty="0"/>
          </a:p>
          <a:p>
            <a:pPr>
              <a:lnSpc>
                <a:spcPts val="2200"/>
              </a:lnSpc>
            </a:pPr>
            <a:r>
              <a:rPr lang="en-US" altLang="zh-CN" sz="1600" dirty="0" smtClean="0"/>
              <a:t>• </a:t>
            </a:r>
            <a:r>
              <a:rPr lang="zh-CN" altLang="en-US" sz="1600" dirty="0" smtClean="0"/>
              <a:t>给定驾驶</a:t>
            </a:r>
            <a:r>
              <a:rPr lang="zh-CN" altLang="en-US" sz="1600" dirty="0"/>
              <a:t>视频、结构化的场景语义以及相应的提取的自车运动</a:t>
            </a:r>
            <a:r>
              <a:rPr lang="zh-CN" altLang="en-US" sz="1600" dirty="0" smtClean="0"/>
              <a:t>特征</a:t>
            </a:r>
            <a:endParaRPr lang="en-US" altLang="zh-CN" sz="1600" dirty="0" smtClean="0"/>
          </a:p>
          <a:p>
            <a:pPr>
              <a:lnSpc>
                <a:spcPts val="2200"/>
              </a:lnSpc>
            </a:pPr>
            <a:r>
              <a:rPr lang="en-US" altLang="zh-CN" dirty="0"/>
              <a:t>• </a:t>
            </a:r>
            <a:r>
              <a:rPr lang="zh-CN" altLang="en-US" sz="1600" dirty="0"/>
              <a:t>给定回答诸如</a:t>
            </a:r>
            <a:r>
              <a:rPr lang="zh-CN" altLang="en-US" sz="1600" dirty="0" smtClean="0"/>
              <a:t>行为相关</a:t>
            </a:r>
            <a:r>
              <a:rPr lang="zh-CN" altLang="en-US" sz="1600" dirty="0"/>
              <a:t>的问题</a:t>
            </a:r>
            <a:r>
              <a:rPr lang="zh-CN" altLang="en-US" sz="1600" dirty="0" smtClean="0"/>
              <a:t>：</a:t>
            </a:r>
            <a:r>
              <a:rPr lang="en-US" altLang="zh-CN" sz="1600" dirty="0"/>
              <a:t>1</a:t>
            </a:r>
            <a:r>
              <a:rPr lang="zh-CN" altLang="en-US" sz="1600" dirty="0"/>
              <a:t>）自动驾驶车辆在行人移动的情况下表现得谨慎吗 </a:t>
            </a:r>
            <a:r>
              <a:rPr lang="en-US" altLang="zh-CN" sz="1600" dirty="0"/>
              <a:t>2</a:t>
            </a:r>
            <a:r>
              <a:rPr lang="zh-CN" altLang="en-US" sz="1600" dirty="0"/>
              <a:t>）车辆是主动合入还是让</a:t>
            </a:r>
            <a:r>
              <a:rPr lang="zh-CN" altLang="en-US" sz="1600" dirty="0" smtClean="0"/>
              <a:t>行</a:t>
            </a:r>
            <a:endParaRPr lang="en-US" altLang="zh-CN" sz="1600" dirty="0" smtClean="0"/>
          </a:p>
        </p:txBody>
      </p:sp>
      <p:sp>
        <p:nvSpPr>
          <p:cNvPr id="8" name="文本框 7"/>
          <p:cNvSpPr txBox="1"/>
          <p:nvPr/>
        </p:nvSpPr>
        <p:spPr>
          <a:xfrm>
            <a:off x="199347" y="912373"/>
            <a:ext cx="3614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、静态场景特征提取：车道几何、停车线、人行横道</a:t>
            </a:r>
            <a:endParaRPr lang="en-US" altLang="zh-CN" dirty="0" smtClean="0"/>
          </a:p>
        </p:txBody>
      </p:sp>
      <p:sp>
        <p:nvSpPr>
          <p:cNvPr id="9" name="文本框 8"/>
          <p:cNvSpPr txBox="1"/>
          <p:nvPr/>
        </p:nvSpPr>
        <p:spPr>
          <a:xfrm>
            <a:off x="199347" y="2793632"/>
            <a:ext cx="36619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、基于</a:t>
            </a:r>
            <a:r>
              <a:rPr lang="en-US" altLang="zh-CN" dirty="0" smtClean="0"/>
              <a:t>VLM</a:t>
            </a:r>
            <a:r>
              <a:rPr lang="zh-CN" altLang="en-US" dirty="0" smtClean="0"/>
              <a:t>动态语义提取：前车存在性、合并行为、行人参与情况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47" y="1558705"/>
            <a:ext cx="1983698" cy="116002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321" y="1558704"/>
            <a:ext cx="1913773" cy="1166666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483139" y="3958789"/>
            <a:ext cx="5001031" cy="2626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5</a:t>
            </a:r>
            <a:r>
              <a:rPr lang="zh-CN" altLang="en-US" dirty="0" smtClean="0"/>
              <a:t>、</a:t>
            </a:r>
            <a:r>
              <a:rPr lang="zh-CN" altLang="en-US" sz="1600" b="1" dirty="0" smtClean="0"/>
              <a:t>融合规则</a:t>
            </a:r>
            <a:r>
              <a:rPr lang="zh-CN" altLang="en-US" sz="1600" dirty="0" smtClean="0"/>
              <a:t>：</a:t>
            </a:r>
            <a:endParaRPr lang="en-US" altLang="zh-CN" sz="1600" dirty="0" smtClean="0"/>
          </a:p>
          <a:p>
            <a:pPr>
              <a:lnSpc>
                <a:spcPts val="2200"/>
              </a:lnSpc>
            </a:pPr>
            <a:r>
              <a:rPr lang="en-US" altLang="zh-CN" sz="1600" dirty="0"/>
              <a:t>1</a:t>
            </a:r>
            <a:r>
              <a:rPr lang="zh-CN" altLang="en-US" sz="1600" dirty="0"/>
              <a:t>）激进驾驶行为通常能被两种方法一致识别；即使出现分歧</a:t>
            </a:r>
            <a:r>
              <a:rPr lang="zh-CN" altLang="en-US" sz="1600" dirty="0" smtClean="0"/>
              <a:t>，</a:t>
            </a:r>
            <a:r>
              <a:rPr lang="zh-CN" altLang="en-US" sz="1600" dirty="0"/>
              <a:t>两者</a:t>
            </a:r>
            <a:r>
              <a:rPr lang="zh-CN" altLang="en-US" sz="1600" dirty="0" smtClean="0"/>
              <a:t>也</a:t>
            </a:r>
            <a:r>
              <a:rPr lang="zh-CN" altLang="en-US" sz="1600" dirty="0"/>
              <a:t>往往各自捕捉到对方遗漏的有效信号</a:t>
            </a:r>
            <a:r>
              <a:rPr lang="en-US" altLang="zh-CN" sz="1600" dirty="0"/>
              <a:t>——</a:t>
            </a:r>
            <a:r>
              <a:rPr lang="zh-CN" altLang="en-US" sz="1600" dirty="0"/>
              <a:t>这种互补性表明，对激进行为应采取宽松合并策略（即任一方判定即成立）</a:t>
            </a:r>
            <a:endParaRPr lang="en-US" altLang="zh-CN" sz="1600" dirty="0"/>
          </a:p>
          <a:p>
            <a:pPr>
              <a:lnSpc>
                <a:spcPts val="2200"/>
              </a:lnSpc>
            </a:pPr>
            <a:r>
              <a:rPr lang="en-US" altLang="zh-CN" sz="1600" dirty="0"/>
              <a:t>2</a:t>
            </a:r>
            <a:r>
              <a:rPr lang="zh-CN" altLang="en-US" sz="1600" dirty="0"/>
              <a:t>）</a:t>
            </a:r>
            <a:r>
              <a:rPr lang="en-US" altLang="zh-CN" sz="1600" dirty="0"/>
              <a:t>VLM </a:t>
            </a:r>
            <a:r>
              <a:rPr lang="zh-CN" altLang="en-US" sz="1600" dirty="0"/>
              <a:t>更容易将保守型与正常型混淆，尤其是在低速或交互意图模糊的场景中。因此，对“保守”标签采用了更严格的判定（即两方判定才成立）</a:t>
            </a:r>
            <a:endParaRPr lang="en-US" altLang="zh-CN" sz="1600" dirty="0"/>
          </a:p>
          <a:p>
            <a:pPr>
              <a:lnSpc>
                <a:spcPts val="2200"/>
              </a:lnSpc>
            </a:pPr>
            <a:r>
              <a:rPr lang="en-US" altLang="zh-CN" sz="1600" dirty="0"/>
              <a:t>3</a:t>
            </a:r>
            <a:r>
              <a:rPr lang="zh-CN" altLang="en-US" sz="1600" dirty="0"/>
              <a:t>）其余情况统一归为“正常”</a:t>
            </a:r>
          </a:p>
        </p:txBody>
      </p:sp>
    </p:spTree>
    <p:extLst>
      <p:ext uri="{BB962C8B-B14F-4D97-AF65-F5344CB8AC3E}">
        <p14:creationId xmlns:p14="http://schemas.microsoft.com/office/powerpoint/2010/main" val="246941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74"/>
          </a:xfrm>
        </p:spPr>
        <p:txBody>
          <a:bodyPr>
            <a:normAutofit/>
          </a:bodyPr>
          <a:lstStyle/>
          <a:p>
            <a:r>
              <a:rPr lang="zh-CN" altLang="en-US" sz="3200" dirty="0" smtClean="0"/>
              <a:t> 驾驶偏好建模与标注框架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029495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1433</TotalTime>
  <Words>390</Words>
  <Application>Microsoft Office PowerPoint</Application>
  <PresentationFormat>宽屏</PresentationFormat>
  <Paragraphs>25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宋体</vt:lpstr>
      <vt:lpstr>Arial</vt:lpstr>
      <vt:lpstr>Office 主题​​</vt:lpstr>
      <vt:lpstr>PowerPoint 演示文稿</vt:lpstr>
      <vt:lpstr> 驾驶偏好建模与标注框架</vt:lpstr>
      <vt:lpstr> 驾驶偏好建模与标注框架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lzt</dc:creator>
  <cp:lastModifiedBy>lzt</cp:lastModifiedBy>
  <cp:revision>8</cp:revision>
  <dcterms:created xsi:type="dcterms:W3CDTF">2026-02-24T14:34:07Z</dcterms:created>
  <dcterms:modified xsi:type="dcterms:W3CDTF">2026-02-25T14:27:59Z</dcterms:modified>
</cp:coreProperties>
</file>